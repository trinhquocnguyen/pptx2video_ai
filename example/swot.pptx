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notesSlides/notesSlide1.xml" Type="http://schemas.openxmlformats.org/officeDocument/2006/relationships/notesSlide"/><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presProps.xml" Type="http://schemas.openxmlformats.org/officeDocument/2006/relationships/pres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notesSlides/notesSlide11.xml" Type="http://schemas.openxmlformats.org/officeDocument/2006/relationships/notesSlide"/><Relationship Id="rId33" Target="notesSlides/notesSlide12.xml" Type="http://schemas.openxmlformats.org/officeDocument/2006/relationships/notesSlide"/><Relationship Id="rId34" Target="notesSlides/notesSlide13.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Chào mừng quý vị đến với buổi trình bày về Phân tích SWOT thông minh. Đây là một khung tư duy chiến lược giúp chúng ta đưa ra những quyết định chính xác và hiệu quả cho tổ chức. Trong buổi hôm nay, chúng ta sẽ cùng khám phá cách áp dụng công cụ này một cách chuyên sâu.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Slide này giới thiệu tổng quan về SWOT. Chúng ta cần hiểu rõ SWOT không chỉ là liệt kê 4 yếu tố mà là công cụ để đối chiếu nội lực và ngoại cảnh. Mục tiêu cuối cùng là xây dựng được các chiến lược khả thi từ bức tranh toàn diện đó.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Chất lượng đầu ra của SWOT phụ thuộc hoàn toàn vào chất lượng dữ liệu đầu vào. Vì vậy, chúng ta cần kết hợp cả nguồn nội bộ và bên ngoài, sử dụng các phương pháp như phỏng vấn hay workshop để có cái nhìn khách quan nhất.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Phần Điểm mạnh tập trung vào nội lực. Chúng ta cần liệt kê những gì mình làm tốt nhất, từ công nghệ, con người cho đến các tài sản vô hình như thương hiệu, và quan trọng là phải có bằng chứng cụ thể.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Nhận diện Điểm yếu là bước quan trọng để cải thiện. Hãy nhìn vào quy trình, tài chính, con người và những phản hồi thực tế để biết đâu là "nút thắt cổ chai" của tổ chức.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Cơ hội luôn hiện hữu từ xu hướng thị trường, khoảng trống của đối thủ hay các thay đổi chính sách. Nhiệm vụ của chúng ta là nhận diện và lượng hóa chúng để sẵn sàng nắm bắt.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Thách thức là những yếu tố ngoại cảnh chúng ta không kiểm soát được, nhưng có thể chuẩn bị. Từ đối thủ, thị trường cho đến rủi ro pháp lý, việc nhận diện sớm giúp ta không bị động.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Ma trận TOWS là bước 'xào nấu' dữ liệu. Chúng ta không để S, W, O, T đứng riêng lẻ mà phải kết hợp chúng lại: S-O, S-T, W-O, W-T để tìm ra lời giải chiến lược.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Đây là nhóm chiến lược hướng tới sự phát triển. SO là 'đánh nhanh thắng nhanh' bằng sở trường. WO là 'mượn gió bẻ măng', dùng cơ hội bên ngoài để vá lỗ hổng bên trong.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Nhóm chiến lược này mang tính bảo vệ. ST dùng điểm mạnh như tấm khiên chắn. WT là bài toán sinh tồn: phải sửa mình để không bị đào thải bởi áp lực bên ngoài.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Slide này gói gọn lại toàn bộ nội dung. Thông điệp quan trọng nhất: chiến lược trên giấy phải chuyển thành hành động cụ thể trong 90 ngày tới. Mọi người cần nắm rõ vai trò của mình.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Khuyến khích mọi người đặt câu hỏi xoay quanh tính khả thi và nguồn lực. Mục tiêu của Q&amp;A là giải tỏa mọi nghi ngại để tất cả đồng lòng khi bắt tay vào làm.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Cảm ơn mọi người đã tham gia. Phân tích SWOT này chỉ là khởi đầu, thành công nằm ở việc chúng ta thực thi các chiến lược đã đề ra như thế nào. Rất mong nhận được phản hồi thêm qua email.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3.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390" t="0" r="-39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286000"/>
            <a:ext cx="10160000" cy="254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FFFFF"/>
                </a:solidFill>
                <a:latin typeface="Montserrat"/>
                <a:ea typeface="Montserrat"/>
                <a:cs typeface="Montserrat"/>
                <a:sym typeface="Montserrat"/>
              </a:rPr>
              <a:t>Phân tích SWOT thông minh</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2400">
                <a:solidFill>
                  <a:srgbClr val="E6E6E6"/>
                </a:solidFill>
                <a:latin typeface="Poppins"/>
                <a:ea typeface="Poppins"/>
                <a:cs typeface="Poppins"/>
                <a:sym typeface="Poppins"/>
              </a:rPr>
              <a:t>Khung tư duy chiến lược cho ra quyết định</a:t>
            </a:r>
          </a:p>
        </p:txBody>
      </p:sp>
      <p:sp>
        <p:nvSpPr>
          <p:cNvPr name="AutoShape 4" id="4"/>
          <p:cNvSpPr/>
          <p:nvPr/>
        </p:nvSpPr>
        <p:spPr>
          <a:xfrm rot="0" flipH="false" flipV="false">
            <a:off x="1016000" y="5715000"/>
            <a:ext cx="10160000" cy="635000"/>
          </a:xfrm>
          <a:prstGeom prst="rect">
            <a:avLst/>
          </a:prstGeom>
          <a:noFill/>
          <a:ln w="12700" cmpd="sng" cap="flat">
            <a:noFill/>
            <a:prstDash val="solid"/>
            <a:round/>
          </a:ln>
        </p:spPr>
        <p:txBody>
          <a:bodyPr anchor="b" rtlCol="false" anchorCtr="false" vert="horz" wrap="square" lIns="0" rIns="0" tIns="0" bIns="0"/>
          <a:lstStyle/>
          <a:p>
            <a:pPr algn="ctr" indent="0">
              <a:lnSpc>
                <a:spcPct val="125000"/>
              </a:lnSpc>
              <a:defRPr/>
            </a:pPr>
            <a:r>
              <a:rPr lang="en-US" b="false" i="false" strike="noStrike" u="none" sz="1600">
                <a:solidFill>
                  <a:srgbClr val="C8C8C8"/>
                </a:solidFill>
                <a:latin typeface="Open Sans"/>
                <a:ea typeface="Open Sans"/>
                <a:cs typeface="Open Sans"/>
                <a:sym typeface="Open Sans"/>
              </a:rPr>
              <a:t>AnyGen &amp; Guest User 27821</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Mục tiêu và phạm vi SWOT</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Tiếp nối phần mở đầu, chúng ta sẽ định hình rõ ràng vai trò của SWOT như một công cụ thiết yếu trong việc xây dựng bức tranh toàn cảnh cho tổ chức.</a:t>
            </a:r>
            <a:endParaRPr lang="en-US" sz="1100"/>
          </a:p>
        </p:txBody>
      </p:sp>
      <p:sp>
        <p:nvSpPr>
          <p:cNvPr name="AutoShape 4" id="4"/>
          <p:cNvSpPr/>
          <p:nvPr/>
        </p:nvSpPr>
        <p:spPr>
          <a:xfrm rot="0" flipH="false" flipV="false">
            <a:off x="762000" y="2032000"/>
            <a:ext cx="2540000" cy="4064000"/>
          </a:xfrm>
          <a:prstGeom prst="roundRect">
            <a:avLst>
              <a:gd name="adj" fmla="val 4000"/>
            </a:avLst>
          </a:prstGeom>
          <a:solidFill>
            <a:srgbClr val="F0F0F0">
              <a:alpha val="100000"/>
            </a:srgbClr>
          </a:solidFill>
          <a:ln w="25400" cmpd="sng" cap="flat">
            <a:noFill/>
            <a:prstDash val="solid"/>
            <a:round/>
          </a:ln>
        </p:spPr>
        <p:txBody>
          <a:bodyPr anchor="t" rtlCol="false" anchorCtr="false" vert="horz" wrap="square" lIns="190500" rIns="190500" tIns="254000" bIns="0"/>
          <a:lstStyle/>
          <a:p>
            <a:pPr algn="l" indent="0">
              <a:lnSpc>
                <a:spcPct val="125000"/>
              </a:lnSpc>
              <a:defRPr/>
            </a:pPr>
            <a:r>
              <a:rPr lang="en-US" b="true" i="false" strike="noStrike" u="none" sz="1800">
                <a:solidFill>
                  <a:srgbClr val="16433C"/>
                </a:solidFill>
                <a:latin typeface="Poppins"/>
                <a:ea typeface="Poppins"/>
                <a:cs typeface="Poppins"/>
                <a:sym typeface="Poppins"/>
              </a:rPr>
              <a:t>SWOT là gì?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Viết tắt của 4 yếu tố: Strengths (Điểm mạnh), Weaknesses (Điểm yếu), Opportunities (Cơ hội) và Threats (Thách thức). Đây là khung phân tích nền tảng để đánh giá hiện trạng.</a:t>
            </a:r>
          </a:p>
        </p:txBody>
      </p:sp>
      <p:sp>
        <p:nvSpPr>
          <p:cNvPr name="AutoShape 5" id="5"/>
          <p:cNvSpPr/>
          <p:nvPr/>
        </p:nvSpPr>
        <p:spPr>
          <a:xfrm rot="0" flipH="false" flipV="false">
            <a:off x="3467100" y="2032000"/>
            <a:ext cx="2540000" cy="4064000"/>
          </a:xfrm>
          <a:prstGeom prst="roundRect">
            <a:avLst>
              <a:gd name="adj" fmla="val 4000"/>
            </a:avLst>
          </a:prstGeom>
          <a:solidFill>
            <a:srgbClr val="F0F0F0">
              <a:alpha val="100000"/>
            </a:srgbClr>
          </a:solidFill>
          <a:ln w="25400" cmpd="sng" cap="flat">
            <a:noFill/>
            <a:prstDash val="solid"/>
            <a:round/>
          </a:ln>
        </p:spPr>
        <p:txBody>
          <a:bodyPr anchor="t" rtlCol="false" anchorCtr="false" vert="horz" wrap="square" lIns="190500" rIns="190500" tIns="254000" bIns="0"/>
          <a:lstStyle/>
          <a:p>
            <a:pPr algn="l" indent="0">
              <a:lnSpc>
                <a:spcPct val="125000"/>
              </a:lnSpc>
              <a:defRPr/>
            </a:pPr>
            <a:r>
              <a:rPr lang="en-US" b="true" i="false" strike="noStrike" u="none" sz="1800">
                <a:solidFill>
                  <a:srgbClr val="16433C"/>
                </a:solidFill>
                <a:latin typeface="Poppins"/>
                <a:ea typeface="Poppins"/>
                <a:cs typeface="Poppins"/>
                <a:sym typeface="Poppins"/>
              </a:rPr>
              <a:t>Mục tiêu cốt lõi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Tạo ra bức tranh toàn diện đối chiếu giữa năng lực nội bộ và môi trường bên ngoài. Giúp nhận diện rõ vị thế hiện tại của doanh nghiệp.</a:t>
            </a:r>
          </a:p>
        </p:txBody>
      </p:sp>
      <p:sp>
        <p:nvSpPr>
          <p:cNvPr name="AutoShape 6" id="6"/>
          <p:cNvSpPr/>
          <p:nvPr/>
        </p:nvSpPr>
        <p:spPr>
          <a:xfrm rot="0" flipH="false" flipV="false">
            <a:off x="6172200" y="2032000"/>
            <a:ext cx="2540000" cy="4064000"/>
          </a:xfrm>
          <a:prstGeom prst="roundRect">
            <a:avLst>
              <a:gd name="adj" fmla="val 4000"/>
            </a:avLst>
          </a:prstGeom>
          <a:solidFill>
            <a:srgbClr val="F0F0F0">
              <a:alpha val="100000"/>
            </a:srgbClr>
          </a:solidFill>
          <a:ln w="25400" cmpd="sng" cap="flat">
            <a:noFill/>
            <a:prstDash val="solid"/>
            <a:round/>
          </a:ln>
        </p:spPr>
        <p:txBody>
          <a:bodyPr anchor="t" rtlCol="false" anchorCtr="false" vert="horz" wrap="square" lIns="190500" rIns="190500" tIns="254000" bIns="0"/>
          <a:lstStyle/>
          <a:p>
            <a:pPr algn="l" indent="0">
              <a:lnSpc>
                <a:spcPct val="125000"/>
              </a:lnSpc>
              <a:defRPr/>
            </a:pPr>
            <a:r>
              <a:rPr lang="en-US" b="true" i="false" strike="noStrike" u="none" sz="1800">
                <a:solidFill>
                  <a:srgbClr val="16433C"/>
                </a:solidFill>
                <a:latin typeface="Poppins"/>
                <a:ea typeface="Poppins"/>
                <a:cs typeface="Poppins"/>
                <a:sym typeface="Poppins"/>
              </a:rPr>
              <a:t>Thời điểm áp dụng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Sử dụng khi định hướng chiến lược vĩ mô, phát triển sản phẩm mới, lập kế hoạch tiếp thị hoặc tối ưu hóa quy trình vận hành.</a:t>
            </a:r>
          </a:p>
        </p:txBody>
      </p:sp>
      <p:sp>
        <p:nvSpPr>
          <p:cNvPr name="AutoShape 7" id="7"/>
          <p:cNvSpPr/>
          <p:nvPr/>
        </p:nvSpPr>
        <p:spPr>
          <a:xfrm rot="0" flipH="false" flipV="false">
            <a:off x="8890000" y="2032000"/>
            <a:ext cx="2540000" cy="4064000"/>
          </a:xfrm>
          <a:prstGeom prst="roundRect">
            <a:avLst>
              <a:gd name="adj" fmla="val 4000"/>
            </a:avLst>
          </a:prstGeom>
          <a:solidFill>
            <a:srgbClr val="F0F0F0">
              <a:alpha val="100000"/>
            </a:srgbClr>
          </a:solidFill>
          <a:ln w="25400" cmpd="sng" cap="flat">
            <a:noFill/>
            <a:prstDash val="solid"/>
            <a:round/>
          </a:ln>
        </p:spPr>
        <p:txBody>
          <a:bodyPr anchor="t" rtlCol="false" anchorCtr="false" vert="horz" wrap="square" lIns="190500" rIns="190500" tIns="254000" bIns="0"/>
          <a:lstStyle/>
          <a:p>
            <a:pPr algn="l" indent="0">
              <a:lnSpc>
                <a:spcPct val="125000"/>
              </a:lnSpc>
              <a:defRPr/>
            </a:pPr>
            <a:r>
              <a:rPr lang="en-US" b="true" i="false" strike="noStrike" u="none" sz="1800">
                <a:solidFill>
                  <a:srgbClr val="16433C"/>
                </a:solidFill>
                <a:latin typeface="Poppins"/>
                <a:ea typeface="Poppins"/>
                <a:cs typeface="Poppins"/>
                <a:sym typeface="Poppins"/>
              </a:rPr>
              <a:t>Kết quả mong đợi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Đưa ra các ưu tiên hành động cụ thể và chiến lược khả thi, giúp chuyển hóa thông tin thành quyết định quản trị hiệu quả.</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Thu thập dữ liệu cho SWOT</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Để đảm bảo tính chính xác cho phân tích, việc chuẩn hóa quy trình thu thập dữ liệu đầu vào từ đa nguồn là bước tiên quyết không thể bỏ qua.</a:t>
            </a:r>
            <a:endParaRPr lang="en-US" sz="1100"/>
          </a:p>
        </p:txBody>
      </p:sp>
      <p:sp>
        <p:nvSpPr>
          <p:cNvPr name="AutoShape 4" id="4"/>
          <p:cNvSpPr/>
          <p:nvPr/>
        </p:nvSpPr>
        <p:spPr>
          <a:xfrm rot="0" flipH="false" flipV="false">
            <a:off x="762000" y="2159000"/>
            <a:ext cx="5207000" cy="1778000"/>
          </a:xfrm>
          <a:prstGeom prst="roundRect">
            <a:avLst>
              <a:gd name="adj" fmla="val 5714"/>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true" i="false" strike="noStrike" u="none" sz="1800">
                <a:solidFill>
                  <a:srgbClr val="16433C"/>
                </a:solidFill>
                <a:latin typeface="Poppins"/>
                <a:ea typeface="Poppins"/>
                <a:cs typeface="Poppins"/>
                <a:sym typeface="Poppins"/>
              </a:rPr>
              <a:t>🏠 Nguồn dữ liệu nội bộ</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Khai thác các báo cáo vận hành định kỳ và chỉ số KPI thực tế. Kết hợp với khảo sát ý kiến nhân viên để có góc nhìn đa chiều từ bên trong.</a:t>
            </a:r>
          </a:p>
        </p:txBody>
      </p:sp>
      <p:sp>
        <p:nvSpPr>
          <p:cNvPr name="AutoShape 5" id="5"/>
          <p:cNvSpPr/>
          <p:nvPr/>
        </p:nvSpPr>
        <p:spPr>
          <a:xfrm rot="0" flipH="false" flipV="false">
            <a:off x="6223000" y="2159000"/>
            <a:ext cx="5207000" cy="1778000"/>
          </a:xfrm>
          <a:prstGeom prst="roundRect">
            <a:avLst>
              <a:gd name="adj" fmla="val 5714"/>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true" i="false" strike="noStrike" u="none" sz="1800">
                <a:solidFill>
                  <a:srgbClr val="16433C"/>
                </a:solidFill>
                <a:latin typeface="Poppins"/>
                <a:ea typeface="Poppins"/>
                <a:cs typeface="Poppins"/>
                <a:sym typeface="Poppins"/>
              </a:rPr>
              <a:t>🌍 Nguồn dữ liệu bên ngoài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Tổng hợp thông tin từ báo cáo ngành và xu hướng thị trường mới nhất. Phân tích động thái của đối thủ cạnh tranh và phản hồi từ khách hàng.</a:t>
            </a:r>
          </a:p>
        </p:txBody>
      </p:sp>
      <p:sp>
        <p:nvSpPr>
          <p:cNvPr name="AutoShape 6" id="6"/>
          <p:cNvSpPr/>
          <p:nvPr/>
        </p:nvSpPr>
        <p:spPr>
          <a:xfrm rot="0" flipH="false" flipV="false">
            <a:off x="762000" y="4191000"/>
            <a:ext cx="5207000" cy="1778000"/>
          </a:xfrm>
          <a:prstGeom prst="roundRect">
            <a:avLst>
              <a:gd name="adj" fmla="val 5714"/>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true" i="false" strike="noStrike" u="none" sz="1800">
                <a:solidFill>
                  <a:srgbClr val="16433C"/>
                </a:solidFill>
                <a:latin typeface="Poppins"/>
                <a:ea typeface="Poppins"/>
                <a:cs typeface="Poppins"/>
                <a:sym typeface="Poppins"/>
              </a:rPr>
              <a:t>🛠️ Phương pháp thực hiện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Triển khai phỏng vấn sâu và tổ chức workshop nhóm để thảo luận. Sử dụng kỹ thuật phân tích tài liệu và khảo sát diện rộng để thu thập thông tin.</a:t>
            </a:r>
          </a:p>
        </p:txBody>
      </p:sp>
      <p:sp>
        <p:nvSpPr>
          <p:cNvPr name="AutoShape 7" id="7"/>
          <p:cNvSpPr/>
          <p:nvPr/>
        </p:nvSpPr>
        <p:spPr>
          <a:xfrm rot="0" flipH="false" flipV="false">
            <a:off x="6223000" y="4191000"/>
            <a:ext cx="5207000" cy="1778000"/>
          </a:xfrm>
          <a:prstGeom prst="roundRect">
            <a:avLst>
              <a:gd name="adj" fmla="val 5714"/>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true" i="false" strike="noStrike" u="none" sz="1800">
                <a:solidFill>
                  <a:srgbClr val="16433C"/>
                </a:solidFill>
                <a:latin typeface="Poppins"/>
                <a:ea typeface="Poppins"/>
                <a:cs typeface="Poppins"/>
                <a:sym typeface="Poppins"/>
              </a:rPr>
              <a:t>✅ Tiêu chí chất lượng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Dữ liệu phải đảm bảo tính cập nhật và có khả năng kiểm chứng rõ ràng. Ưu tiên thông tin được xác thực từ đa nguồn để giảm thiểu thiên kiến.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Strengths (Điểm mạnh)</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Hãy bắt đầu bằng việc xác định những thế mạnh cốt lõi, nơi doanh nghiệp sở hữu lợi thế cạnh tranh khác biệt và bền vững.</a:t>
            </a:r>
            <a:endParaRPr lang="en-US" sz="1100"/>
          </a:p>
        </p:txBody>
      </p:sp>
      <p:sp>
        <p:nvSpPr>
          <p:cNvPr name="AutoShape 4" id="4"/>
          <p:cNvSpPr/>
          <p:nvPr/>
        </p:nvSpPr>
        <p:spPr>
          <a:xfrm rot="0" flipH="false" flipV="false">
            <a:off x="762000" y="2159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Năng lực nổi trội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Sở hữu công nghệ độc quyền và quy trình vận hành tối ưu hóa cao. Đội ngũ nhân sự có chuyên môn sâu cùng thương hiệu uy tín lâu năm trên thị trường.</a:t>
            </a:r>
          </a:p>
        </p:txBody>
      </p:sp>
      <p:sp>
        <p:nvSpPr>
          <p:cNvPr name="AutoShape 5" id="5"/>
          <p:cNvSpPr/>
          <p:nvPr/>
        </p:nvSpPr>
        <p:spPr>
          <a:xfrm rot="0" flipH="false" flipV="false">
            <a:off x="6223000" y="2159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Tài nguyên riêng có</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Nắm giữ kho dữ liệu khách hàng phong phú và mạng lưới đối tác rộng khắp. Có các bằng sáng chế bảo vệ sản phẩm và nguồn vốn dự trữ dồi dào.</a:t>
            </a:r>
          </a:p>
        </p:txBody>
      </p:sp>
      <p:sp>
        <p:nvSpPr>
          <p:cNvPr name="AutoShape 6" id="6"/>
          <p:cNvSpPr/>
          <p:nvPr/>
        </p:nvSpPr>
        <p:spPr>
          <a:xfrm rot="0" flipH="false" flipV="false">
            <a:off x="762000" y="4318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Hiệu suất vượt trội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Đạt được cấu trúc chi phí thấp hơn trung bình ngành và tốc độ giao hàng nhanh chóng. Chất lượng sản phẩm ổn định đi kèm trải nghiệm khách hàng xuất sắc.</a:t>
            </a:r>
          </a:p>
        </p:txBody>
      </p:sp>
      <p:sp>
        <p:nvSpPr>
          <p:cNvPr name="AutoShape 7" id="7"/>
          <p:cNvSpPr/>
          <p:nvPr/>
        </p:nvSpPr>
        <p:spPr>
          <a:xfrm rot="0" flipH="false" flipV="false">
            <a:off x="6223000" y="4318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Bằng chứng thực tế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Được minh chứng qua thị phần dẫn đầu và các giải thưởng ngành danh giá. Các case-study nội bộ cho thấy tỷ lệ giữ chân khách hàng cao vượt trội.</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Weaknesses (Điểm yếu)</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Chuyển sang khía cạnh điểm yếu, chúng ta cần thẳng thắn nhìn nhận những khoảng trống nội tại đang kìm hãm sự phát triển để có kế hoạch khắc phục.</a:t>
            </a:r>
            <a:endParaRPr lang="en-US" sz="1100"/>
          </a:p>
        </p:txBody>
      </p:sp>
      <p:sp>
        <p:nvSpPr>
          <p:cNvPr name="AutoShape 4" id="4"/>
          <p:cNvSpPr/>
          <p:nvPr/>
        </p:nvSpPr>
        <p:spPr>
          <a:xfrm rot="0" flipH="false" flipV="false">
            <a:off x="762000" y="2159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Rào cản nội bộ</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Quy trình phê duyệt còn rườm rà, chồng chéo gây chậm tiến độ. Đội ngũ nhân sự còn thiếu một số kỹ năng số hóa và tồn đọng nợ kỹ thuật từ hệ thống cũ.</a:t>
            </a:r>
          </a:p>
        </p:txBody>
      </p:sp>
      <p:sp>
        <p:nvSpPr>
          <p:cNvPr name="AutoShape 5" id="5"/>
          <p:cNvSpPr/>
          <p:nvPr/>
        </p:nvSpPr>
        <p:spPr>
          <a:xfrm rot="0" flipH="false" flipV="false">
            <a:off x="6223000" y="2159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Hạn chế tài nguyên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Ngân sách tiếp thị hạn hẹp so với đối thủ và hạ tầng công nghệ chưa đồng bộ. Dữ liệu phân tán, thiếu tập trung gây khó khăn cho việc ra quyết định.</a:t>
            </a:r>
          </a:p>
        </p:txBody>
      </p:sp>
      <p:sp>
        <p:nvSpPr>
          <p:cNvPr name="AutoShape 6" id="6"/>
          <p:cNvSpPr/>
          <p:nvPr/>
        </p:nvSpPr>
        <p:spPr>
          <a:xfrm rot="0" flipH="false" flipV="false">
            <a:off x="762000" y="4318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Rủi ro hoạt động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Tỷ lệ lỗi chất lượng sản phẩm còn cao và quy trình kiểm soát chưa chặt chẽ. Phụ thuộc quá lớn vào một vài nhà cung cấp độc quyền, gây rủi ro chuỗi cung ứng.</a:t>
            </a:r>
          </a:p>
        </p:txBody>
      </p:sp>
      <p:sp>
        <p:nvSpPr>
          <p:cNvPr name="AutoShape 7" id="7"/>
          <p:cNvSpPr/>
          <p:nvPr/>
        </p:nvSpPr>
        <p:spPr>
          <a:xfrm rot="0" flipH="false" flipV="false">
            <a:off x="6223000" y="4318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Dấu hiệu nhận biết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Phản hồi tiêu cực từ khách hàng về dịch vụ hậu mãi. Các chỉ số KPI quan trọng không đạt mục tiêu và thời gian ra mắt sản phẩm mới thường xuyên bị trễ.</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Opportunities (Cơ hội)</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Bây giờ, hãy hướng tầm mắt ra bên ngoài để khám phá những cơ hội tăng trưởng tiềm năng mà thị trường và môi trường kinh doanh mang lại.</a:t>
            </a:r>
            <a:endParaRPr lang="en-US" sz="1100"/>
          </a:p>
        </p:txBody>
      </p:sp>
      <p:sp>
        <p:nvSpPr>
          <p:cNvPr name="AutoShape 4" id="4"/>
          <p:cNvSpPr/>
          <p:nvPr/>
        </p:nvSpPr>
        <p:spPr>
          <a:xfrm rot="0" flipH="false" flipV="false">
            <a:off x="762000" y="2159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Xu hướng tích cực</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Sự bùng nổ của công nghệ mới hỗ trợ tối ưu hóa vận hành. Nhu cầu thị trường đang tăng trưởng mạnh mẽ đối với các sản phẩm xanh và bền vững.</a:t>
            </a:r>
          </a:p>
        </p:txBody>
      </p:sp>
      <p:sp>
        <p:nvSpPr>
          <p:cNvPr name="AutoShape 5" id="5"/>
          <p:cNvSpPr/>
          <p:nvPr/>
        </p:nvSpPr>
        <p:spPr>
          <a:xfrm rot="0" flipH="false" flipV="false">
            <a:off x="6223000" y="2159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Khoảng trống đối thủ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Phát hiện các phân khúc khách hàng ngách mà đối thủ lớn chưa phục vụ tốt. Tận dụng sự chậm chạp trong đổi mới của đối thủ để chiếm lĩnh thị phần.</a:t>
            </a:r>
          </a:p>
        </p:txBody>
      </p:sp>
      <p:sp>
        <p:nvSpPr>
          <p:cNvPr name="AutoShape 6" id="6"/>
          <p:cNvSpPr/>
          <p:nvPr/>
        </p:nvSpPr>
        <p:spPr>
          <a:xfrm rot="0" flipH="false" flipV="false">
            <a:off x="762000" y="4318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Hợp tác chiến lược</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Cơ hội liên kết với các đối tác trong hệ sinh thái để mở rộng chuỗi giá trị. Tiếp cận các kênh phân phối mới thông qua các thỏa thuận hợp tác đôi bên cùng có lợi.</a:t>
            </a:r>
          </a:p>
        </p:txBody>
      </p:sp>
      <p:sp>
        <p:nvSpPr>
          <p:cNvPr name="AutoShape 7" id="7"/>
          <p:cNvSpPr/>
          <p:nvPr/>
        </p:nvSpPr>
        <p:spPr>
          <a:xfrm rot="0" flipH="false" flipV="false">
            <a:off x="6223000" y="4318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Động lực pháp lý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Các chính sách ưu đãi thuế mới của chính phủ cho doanh nghiệp công nghệ. Tiêu chuẩn ngành mới tạo rào cản gia nhập cho đối thủ nhưng thuận lợi cho người đi trước.</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Threats (Thách thức)</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Mảnh ghép cuối cùng là nhận diện các mối đe dọa tiềm tàng từ môi trường bên ngoài để xây dựng kịch bản phòng ngừa chủ động.</a:t>
            </a:r>
            <a:endParaRPr lang="en-US" sz="1100"/>
          </a:p>
        </p:txBody>
      </p:sp>
      <p:sp>
        <p:nvSpPr>
          <p:cNvPr name="AutoShape 4" id="4"/>
          <p:cNvSpPr/>
          <p:nvPr/>
        </p:nvSpPr>
        <p:spPr>
          <a:xfrm rot="0" flipH="false" flipV="false">
            <a:off x="762000" y="2159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Cạnh tranh khốc liệt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Đối thủ cạnh tranh gay gắt về giá và liên tục tung ra các tính năng mới. Tốc độ sao chép mô hình kinh doanh ngày càng nhanh làm giảm lợi thế người đi đầu.</a:t>
            </a:r>
          </a:p>
        </p:txBody>
      </p:sp>
      <p:sp>
        <p:nvSpPr>
          <p:cNvPr name="AutoShape 5" id="5"/>
          <p:cNvSpPr/>
          <p:nvPr/>
        </p:nvSpPr>
        <p:spPr>
          <a:xfrm rot="0" flipH="false" flipV="false">
            <a:off x="6223000" y="2159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Biến động thị trường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Tình hình kinh tế vĩ mô bất ổn ảnh hưởng đến sức mua. Hành vi khách hàng thay đổi khó lường cùng với sự gián đoạn nguồn cung nguyên vật liệu toàn cầu.</a:t>
            </a:r>
          </a:p>
        </p:txBody>
      </p:sp>
      <p:sp>
        <p:nvSpPr>
          <p:cNvPr name="AutoShape 6" id="6"/>
          <p:cNvSpPr/>
          <p:nvPr/>
        </p:nvSpPr>
        <p:spPr>
          <a:xfrm rot="0" flipH="false" flipV="false">
            <a:off x="762000" y="4318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Rủi ro pháp lý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Các quy định tuân thủ ngày càng thắt chặt, đặc biệt về bảo mật dữ liệu người dùng. Nguy cơ vi phạm sở hữu trí tuệ hoặc bị kiện tụng trong môi trường quốc tế.</a:t>
            </a:r>
          </a:p>
        </p:txBody>
      </p:sp>
      <p:sp>
        <p:nvSpPr>
          <p:cNvPr name="AutoShape 7" id="7"/>
          <p:cNvSpPr/>
          <p:nvPr/>
        </p:nvSpPr>
        <p:spPr>
          <a:xfrm rot="0" flipH="false" flipV="false">
            <a:off x="6223000" y="4318000"/>
            <a:ext cx="5207000" cy="1905000"/>
          </a:xfrm>
          <a:prstGeom prst="roundRect">
            <a:avLst>
              <a:gd name="adj" fmla="val 5333"/>
            </a:avLst>
          </a:prstGeom>
          <a:solidFill>
            <a:srgbClr val="F0F0F0">
              <a:alpha val="100000"/>
            </a:srgbClr>
          </a:solidFill>
          <a:ln w="12700" cmpd="sng" cap="flat">
            <a:solidFill>
              <a:srgbClr val="16433C">
                <a:alpha val="2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Sự cố hệ thống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Mối đe dọa từ an ninh mạng và tấn công dữ liệu ngày càng tinh vi. Thời gian chết (downtime) của hệ thống có thể gây gián đoạn nghiêm trọng chuỗi giá trị.</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Tổng hợp ma trận TOWS</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Sau khi đã có đủ 4 thành tố S/W/O/T, bước quan trọng tiếp theo là đưa chúng vào ma trận TOWS để tìm ra các cặp chiến lược phù hợp.</a:t>
            </a:r>
            <a:endParaRPr lang="en-US" sz="1100"/>
          </a:p>
        </p:txBody>
      </p:sp>
      <p:sp>
        <p:nvSpPr>
          <p:cNvPr name="AutoShape 4" id="4"/>
          <p:cNvSpPr/>
          <p:nvPr/>
        </p:nvSpPr>
        <p:spPr>
          <a:xfrm rot="0" flipH="false" flipV="false">
            <a:off x="762000" y="2032000"/>
            <a:ext cx="2540000" cy="4064000"/>
          </a:xfrm>
          <a:prstGeom prst="roundRect">
            <a:avLst>
              <a:gd name="adj" fmla="val 4000"/>
            </a:avLst>
          </a:prstGeom>
          <a:solidFill>
            <a:srgbClr val="F0F0F0">
              <a:alpha val="100000"/>
            </a:srgbClr>
          </a:solidFill>
          <a:ln w="25400" cmpd="sng" cap="flat">
            <a:noFill/>
            <a:prstDash val="solid"/>
            <a:round/>
          </a:ln>
        </p:spPr>
        <p:txBody>
          <a:bodyPr anchor="t" rtlCol="false" anchorCtr="false" vert="horz" wrap="square" lIns="190500" rIns="190500" tIns="254000" bIns="0"/>
          <a:lstStyle/>
          <a:p>
            <a:pPr algn="l" indent="0">
              <a:lnSpc>
                <a:spcPct val="125000"/>
              </a:lnSpc>
              <a:defRPr/>
            </a:pPr>
            <a:r>
              <a:rPr lang="en-US" b="true" i="false" strike="noStrike" u="none" sz="1800">
                <a:solidFill>
                  <a:srgbClr val="16433C"/>
                </a:solidFill>
                <a:latin typeface="Poppins"/>
                <a:ea typeface="Poppins"/>
                <a:cs typeface="Poppins"/>
                <a:sym typeface="Poppins"/>
              </a:rPr>
              <a:t>Ma trận TOWS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Là công cụ đối chiếu chéo: Strengths với Opportunities (S-O), Strengths với Threats (S-T), Weaknesses với Opportunities (W-O) và Weaknesses với Threats (W-T).</a:t>
            </a:r>
          </a:p>
        </p:txBody>
      </p:sp>
      <p:sp>
        <p:nvSpPr>
          <p:cNvPr name="AutoShape 5" id="5"/>
          <p:cNvSpPr/>
          <p:nvPr/>
        </p:nvSpPr>
        <p:spPr>
          <a:xfrm rot="0" flipH="false" flipV="false">
            <a:off x="3467100" y="2032000"/>
            <a:ext cx="2540000" cy="4064000"/>
          </a:xfrm>
          <a:prstGeom prst="roundRect">
            <a:avLst>
              <a:gd name="adj" fmla="val 4000"/>
            </a:avLst>
          </a:prstGeom>
          <a:solidFill>
            <a:srgbClr val="F0F0F0">
              <a:alpha val="100000"/>
            </a:srgbClr>
          </a:solidFill>
          <a:ln w="25400" cmpd="sng" cap="flat">
            <a:noFill/>
            <a:prstDash val="solid"/>
            <a:round/>
          </a:ln>
        </p:spPr>
        <p:txBody>
          <a:bodyPr anchor="t" rtlCol="false" anchorCtr="false" vert="horz" wrap="square" lIns="190500" rIns="190500" tIns="254000" bIns="0"/>
          <a:lstStyle/>
          <a:p>
            <a:pPr algn="l" indent="0">
              <a:lnSpc>
                <a:spcPct val="125000"/>
              </a:lnSpc>
              <a:defRPr/>
            </a:pPr>
            <a:r>
              <a:rPr lang="en-US" b="true" i="false" strike="noStrike" u="none" sz="1800">
                <a:solidFill>
                  <a:srgbClr val="16433C"/>
                </a:solidFill>
                <a:latin typeface="Poppins"/>
                <a:ea typeface="Poppins"/>
                <a:cs typeface="Poppins"/>
                <a:sym typeface="Poppins"/>
              </a:rPr>
              <a:t>Nguyên tắc cốt lõi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Tối đa hóa điểm mạnh để nắm bắt cơ hội và giảm thiểu tác động của điểm yếu. Biến các thách thức thành động lực để củng cố hệ thống nội bộ.</a:t>
            </a:r>
          </a:p>
        </p:txBody>
      </p:sp>
      <p:sp>
        <p:nvSpPr>
          <p:cNvPr name="AutoShape 6" id="6"/>
          <p:cNvSpPr/>
          <p:nvPr/>
        </p:nvSpPr>
        <p:spPr>
          <a:xfrm rot="0" flipH="false" flipV="false">
            <a:off x="6172200" y="2032000"/>
            <a:ext cx="2540000" cy="4064000"/>
          </a:xfrm>
          <a:prstGeom prst="roundRect">
            <a:avLst>
              <a:gd name="adj" fmla="val 4000"/>
            </a:avLst>
          </a:prstGeom>
          <a:solidFill>
            <a:srgbClr val="F0F0F0">
              <a:alpha val="100000"/>
            </a:srgbClr>
          </a:solidFill>
          <a:ln w="25400" cmpd="sng" cap="flat">
            <a:noFill/>
            <a:prstDash val="solid"/>
            <a:round/>
          </a:ln>
        </p:spPr>
        <p:txBody>
          <a:bodyPr anchor="t" rtlCol="false" anchorCtr="false" vert="horz" wrap="square" lIns="190500" rIns="190500" tIns="254000" bIns="0"/>
          <a:lstStyle/>
          <a:p>
            <a:pPr algn="l" indent="0">
              <a:lnSpc>
                <a:spcPct val="125000"/>
              </a:lnSpc>
              <a:defRPr/>
            </a:pPr>
            <a:r>
              <a:rPr lang="en-US" b="true" i="false" strike="noStrike" u="none" sz="1800">
                <a:solidFill>
                  <a:srgbClr val="16433C"/>
                </a:solidFill>
                <a:latin typeface="Poppins"/>
                <a:ea typeface="Poppins"/>
                <a:cs typeface="Poppins"/>
                <a:sym typeface="Poppins"/>
              </a:rPr>
              <a:t>Ưu tiên chiến lược</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Lựa chọn dựa trên mức độ tác động cao, tính khả thi trong nguồn lực cho phép và thời gian triển khai hợp lý. Tránh dàn trải nguồn lực.</a:t>
            </a:r>
          </a:p>
        </p:txBody>
      </p:sp>
      <p:sp>
        <p:nvSpPr>
          <p:cNvPr name="AutoShape 7" id="7"/>
          <p:cNvSpPr/>
          <p:nvPr/>
        </p:nvSpPr>
        <p:spPr>
          <a:xfrm rot="0" flipH="false" flipV="false">
            <a:off x="8890000" y="2032000"/>
            <a:ext cx="2540000" cy="4064000"/>
          </a:xfrm>
          <a:prstGeom prst="roundRect">
            <a:avLst>
              <a:gd name="adj" fmla="val 4000"/>
            </a:avLst>
          </a:prstGeom>
          <a:solidFill>
            <a:srgbClr val="F0F0F0">
              <a:alpha val="100000"/>
            </a:srgbClr>
          </a:solidFill>
          <a:ln w="25400" cmpd="sng" cap="flat">
            <a:noFill/>
            <a:prstDash val="solid"/>
            <a:round/>
          </a:ln>
        </p:spPr>
        <p:txBody>
          <a:bodyPr anchor="t" rtlCol="false" anchorCtr="false" vert="horz" wrap="square" lIns="190500" rIns="190500" tIns="254000" bIns="0"/>
          <a:lstStyle/>
          <a:p>
            <a:pPr algn="l" indent="0">
              <a:lnSpc>
                <a:spcPct val="125000"/>
              </a:lnSpc>
              <a:defRPr/>
            </a:pPr>
            <a:r>
              <a:rPr lang="en-US" b="true" i="false" strike="noStrike" u="none" sz="1800">
                <a:solidFill>
                  <a:srgbClr val="16433C"/>
                </a:solidFill>
                <a:latin typeface="Poppins"/>
                <a:ea typeface="Poppins"/>
                <a:cs typeface="Poppins"/>
                <a:sym typeface="Poppins"/>
              </a:rPr>
              <a:t>Kết quả đầu ra</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Tạo ra danh sách các chiến lược hành động cụ thể, phân loại rõ ràng thành ngắn hạn (Quick wins) và dài hạn (Long-term strategic moves).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Chiến lược SO &amp; WO</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Hai nhóm chiến lược đầu tiên tập trung vào việc khai thác cơ hội: dùng sức mạnh để tấn công (SO) và khắc phục điểm yếu để đón đầu (WO).</a:t>
            </a:r>
            <a:endParaRPr lang="en-US" sz="1100"/>
          </a:p>
        </p:txBody>
      </p:sp>
      <p:sp>
        <p:nvSpPr>
          <p:cNvPr name="AutoShape 4" id="4"/>
          <p:cNvSpPr/>
          <p:nvPr/>
        </p:nvSpPr>
        <p:spPr>
          <a:xfrm rot="0" flipH="false" flipV="false">
            <a:off x="762000" y="2159000"/>
            <a:ext cx="5207000" cy="1905000"/>
          </a:xfrm>
          <a:prstGeom prst="roundRect">
            <a:avLst>
              <a:gd name="adj" fmla="val 5333"/>
            </a:avLst>
          </a:prstGeom>
          <a:solidFill>
            <a:srgbClr val="F0F0F0">
              <a:alpha val="100000"/>
            </a:srgbClr>
          </a:solidFill>
          <a:ln w="12700" cmpd="sng" cap="flat">
            <a:solidFill>
              <a:srgbClr val="027864">
                <a:alpha val="4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027864"/>
                </a:solidFill>
                <a:latin typeface="Poppins"/>
                <a:ea typeface="Poppins"/>
                <a:cs typeface="Poppins"/>
                <a:sym typeface="Poppins"/>
              </a:rPr>
              <a:t>Chiến lược SO (Tấn công)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Tận dụng tối đa Strengths để nắm bắt Opportunities. Ví dụ: Sử dụng uy tín thương hiệu mạnh (S) để nhanh chóng thâm nhập phân khúc thị trường mới (O).</a:t>
            </a:r>
          </a:p>
        </p:txBody>
      </p:sp>
      <p:sp>
        <p:nvSpPr>
          <p:cNvPr name="AutoShape 5" id="5"/>
          <p:cNvSpPr/>
          <p:nvPr/>
        </p:nvSpPr>
        <p:spPr>
          <a:xfrm rot="0" flipH="false" flipV="false">
            <a:off x="6223000" y="2159000"/>
            <a:ext cx="5207000" cy="1905000"/>
          </a:xfrm>
          <a:prstGeom prst="roundRect">
            <a:avLst>
              <a:gd name="adj" fmla="val 5333"/>
            </a:avLst>
          </a:prstGeom>
          <a:solidFill>
            <a:srgbClr val="F0F0F0">
              <a:alpha val="100000"/>
            </a:srgbClr>
          </a:solidFill>
          <a:ln w="12700" cmpd="sng" cap="flat">
            <a:solidFill>
              <a:srgbClr val="027864">
                <a:alpha val="4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027864"/>
                </a:solidFill>
                <a:latin typeface="Poppins"/>
                <a:ea typeface="Poppins"/>
                <a:cs typeface="Poppins"/>
                <a:sym typeface="Poppins"/>
              </a:rPr>
              <a:t>Chiến lược WO (Củng cố)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Tận dụng Opportunities để khắc phục Weaknesses. Ví dụ: Hợp tác với đối tác công nghệ (O) để bù đắp cho sự thiếu hụt kỹ năng số hóa nội bộ (W).</a:t>
            </a:r>
          </a:p>
        </p:txBody>
      </p:sp>
      <p:sp>
        <p:nvSpPr>
          <p:cNvPr name="AutoShape 6" id="6"/>
          <p:cNvSpPr/>
          <p:nvPr/>
        </p:nvSpPr>
        <p:spPr>
          <a:xfrm rot="0" flipH="false" flipV="false">
            <a:off x="762000" y="4318000"/>
            <a:ext cx="5207000" cy="1905000"/>
          </a:xfrm>
          <a:prstGeom prst="roundRect">
            <a:avLst>
              <a:gd name="adj" fmla="val 5333"/>
            </a:avLst>
          </a:prstGeom>
          <a:solidFill>
            <a:srgbClr val="F0F0F0">
              <a:alpha val="100000"/>
            </a:srgbClr>
          </a:solidFill>
          <a:ln w="12700" cmpd="sng" cap="flat">
            <a:solidFill>
              <a:srgbClr val="838383">
                <a:alpha val="4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202020"/>
                </a:solidFill>
                <a:latin typeface="Poppins"/>
                <a:ea typeface="Poppins"/>
                <a:cs typeface="Poppins"/>
                <a:sym typeface="Poppins"/>
              </a:rPr>
              <a:t>Tiêu chí đánh giá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Đánh giá dựa trên ROI dự kiến, thời gian hoàn vốn và mức độ rủi ro chấp nhận được. Chiến lược phải khả thi về mặt tài chính và nguồn lực.</a:t>
            </a:r>
          </a:p>
        </p:txBody>
      </p:sp>
      <p:sp>
        <p:nvSpPr>
          <p:cNvPr name="AutoShape 7" id="7"/>
          <p:cNvSpPr/>
          <p:nvPr/>
        </p:nvSpPr>
        <p:spPr>
          <a:xfrm rot="0" flipH="false" flipV="false">
            <a:off x="6223000" y="4318000"/>
            <a:ext cx="5207000" cy="1905000"/>
          </a:xfrm>
          <a:prstGeom prst="roundRect">
            <a:avLst>
              <a:gd name="adj" fmla="val 5333"/>
            </a:avLst>
          </a:prstGeom>
          <a:solidFill>
            <a:srgbClr val="F0F0F0">
              <a:alpha val="100000"/>
            </a:srgbClr>
          </a:solidFill>
          <a:ln w="12700" cmpd="sng" cap="flat">
            <a:solidFill>
              <a:srgbClr val="838383">
                <a:alpha val="4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202020"/>
                </a:solidFill>
                <a:latin typeface="Poppins"/>
                <a:ea typeface="Poppins"/>
                <a:cs typeface="Poppins"/>
                <a:sym typeface="Poppins"/>
              </a:rPr>
              <a:t>Lộ trình triển khai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Xác định rõ bước khởi động ngay (Quick wins), các mốc kiểm chứng (Milestones) và chuẩn bị tài nguyên cần thiết cho từng giai đoạn.</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Chiến lược ST &amp; WT</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Tiếp theo là nhóm chiến lược phòng thủ và giảm thiểu rủi ro: dùng thế mạnh để hóa giải thách thức (ST) và hạn chế điểm yếu để tránh nguy cơ (WT).</a:t>
            </a:r>
            <a:endParaRPr lang="en-US" sz="1100"/>
          </a:p>
        </p:txBody>
      </p:sp>
      <p:sp>
        <p:nvSpPr>
          <p:cNvPr name="AutoShape 4" id="4"/>
          <p:cNvSpPr/>
          <p:nvPr/>
        </p:nvSpPr>
        <p:spPr>
          <a:xfrm rot="0" flipH="false" flipV="false">
            <a:off x="762000" y="2159000"/>
            <a:ext cx="5207000" cy="1905000"/>
          </a:xfrm>
          <a:prstGeom prst="roundRect">
            <a:avLst>
              <a:gd name="adj" fmla="val 5333"/>
            </a:avLst>
          </a:prstGeom>
          <a:solidFill>
            <a:srgbClr val="F0F0F0">
              <a:alpha val="100000"/>
            </a:srgbClr>
          </a:solidFill>
          <a:ln w="12700" cmpd="sng" cap="flat">
            <a:solidFill>
              <a:srgbClr val="027864">
                <a:alpha val="4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027864"/>
                </a:solidFill>
                <a:latin typeface="Poppins"/>
                <a:ea typeface="Poppins"/>
                <a:cs typeface="Poppins"/>
                <a:sym typeface="Poppins"/>
              </a:rPr>
              <a:t>Chiến lược ST (Phòng thủ)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Sử dụng Strengths để đối phó với Threats. Ví dụ: Dùng năng lực công nghệ vượt trội (S) để tăng cường bảo mật hệ thống, ngăn chặn sao chép và tấn công mạng (T).</a:t>
            </a:r>
          </a:p>
        </p:txBody>
      </p:sp>
      <p:sp>
        <p:nvSpPr>
          <p:cNvPr name="AutoShape 5" id="5"/>
          <p:cNvSpPr/>
          <p:nvPr/>
        </p:nvSpPr>
        <p:spPr>
          <a:xfrm rot="0" flipH="false" flipV="false">
            <a:off x="6223000" y="2159000"/>
            <a:ext cx="5207000" cy="1905000"/>
          </a:xfrm>
          <a:prstGeom prst="roundRect">
            <a:avLst>
              <a:gd name="adj" fmla="val 5333"/>
            </a:avLst>
          </a:prstGeom>
          <a:solidFill>
            <a:srgbClr val="F0F0F0">
              <a:alpha val="100000"/>
            </a:srgbClr>
          </a:solidFill>
          <a:ln w="12700" cmpd="sng" cap="flat">
            <a:solidFill>
              <a:srgbClr val="027864">
                <a:alpha val="4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027864"/>
                </a:solidFill>
                <a:latin typeface="Poppins"/>
                <a:ea typeface="Poppins"/>
                <a:cs typeface="Poppins"/>
                <a:sym typeface="Poppins"/>
              </a:rPr>
              <a:t>Chiến lược WT (Giảm thiểu)</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Tối thiểu hóa Weaknesses để tránh Threats. Ví dụ: Chuẩn hóa quy trình nội bộ (W) để giảm thiểu lỗi vận hành và tránh các rủi ro phạt vi phạm pháp lý (T).</a:t>
            </a:r>
          </a:p>
        </p:txBody>
      </p:sp>
      <p:sp>
        <p:nvSpPr>
          <p:cNvPr name="AutoShape 6" id="6"/>
          <p:cNvSpPr/>
          <p:nvPr/>
        </p:nvSpPr>
        <p:spPr>
          <a:xfrm rot="0" flipH="false" flipV="false">
            <a:off x="762000" y="4318000"/>
            <a:ext cx="5207000" cy="1905000"/>
          </a:xfrm>
          <a:prstGeom prst="roundRect">
            <a:avLst>
              <a:gd name="adj" fmla="val 5333"/>
            </a:avLst>
          </a:prstGeom>
          <a:solidFill>
            <a:srgbClr val="F0F0F0">
              <a:alpha val="100000"/>
            </a:srgbClr>
          </a:solidFill>
          <a:ln w="12700" cmpd="sng" cap="flat">
            <a:solidFill>
              <a:srgbClr val="838383">
                <a:alpha val="4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202020"/>
                </a:solidFill>
                <a:latin typeface="Poppins"/>
                <a:ea typeface="Poppins"/>
                <a:cs typeface="Poppins"/>
                <a:sym typeface="Poppins"/>
              </a:rPr>
              <a:t>Kịch bản rủi ro</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Xây dựng giả định cho các tình huống xấu nhất (Worst-case scenarios) và chuẩn bị sẵn kế hoạch dự phòng (Plan B/C) để kích hoạt ngay khi cần.</a:t>
            </a:r>
          </a:p>
        </p:txBody>
      </p:sp>
      <p:sp>
        <p:nvSpPr>
          <p:cNvPr name="AutoShape 7" id="7"/>
          <p:cNvSpPr/>
          <p:nvPr/>
        </p:nvSpPr>
        <p:spPr>
          <a:xfrm rot="0" flipH="false" flipV="false">
            <a:off x="6223000" y="4318000"/>
            <a:ext cx="5207000" cy="1905000"/>
          </a:xfrm>
          <a:prstGeom prst="roundRect">
            <a:avLst>
              <a:gd name="adj" fmla="val 5333"/>
            </a:avLst>
          </a:prstGeom>
          <a:solidFill>
            <a:srgbClr val="F0F0F0">
              <a:alpha val="100000"/>
            </a:srgbClr>
          </a:solidFill>
          <a:ln w="12700" cmpd="sng" cap="flat">
            <a:solidFill>
              <a:srgbClr val="838383">
                <a:alpha val="40000"/>
              </a:srgbClr>
            </a:solidFill>
            <a:prstDash val="solid"/>
            <a:round/>
          </a:ln>
        </p:spPr>
        <p:txBody>
          <a:bodyPr anchor="t" rtlCol="false" anchorCtr="false" vert="horz" wrap="square" lIns="254000" rIns="254000" tIns="190500" bIns="0"/>
          <a:lstStyle/>
          <a:p>
            <a:pPr algn="l" indent="0">
              <a:lnSpc>
                <a:spcPct val="125000"/>
              </a:lnSpc>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202020"/>
                </a:solidFill>
                <a:latin typeface="Poppins"/>
                <a:ea typeface="Poppins"/>
                <a:cs typeface="Poppins"/>
                <a:sym typeface="Poppins"/>
              </a:rPr>
              <a:t>Chỉ số theo dõi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46464"/>
                </a:solidFill>
                <a:latin typeface="Open Sans"/>
                <a:ea typeface="Open Sans"/>
                <a:cs typeface="Open Sans"/>
                <a:sym typeface="Open Sans"/>
              </a:rPr>
              <a:t>Thiết lập các chỉ số SLA vận hành, đo lường chi phí tránh rủi ro và mức độ tuân thủ quy trình để đánh giá hiệu quả của chiến lược phòng thủ.</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Điểm chốt trước Q&amp;A</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Trước khi bước vào phần thảo luận, hãy cùng điểm lại những kết luận quan trọng nhất để đảm bảo sự thống nhất trong hành động.</a:t>
            </a:r>
            <a:endParaRPr lang="en-US" sz="1100"/>
          </a:p>
        </p:txBody>
      </p:sp>
      <p:sp>
        <p:nvSpPr>
          <p:cNvPr name="AutoShape 4" id="4"/>
          <p:cNvSpPr/>
          <p:nvPr/>
        </p:nvSpPr>
        <p:spPr>
          <a:xfrm rot="0" flipH="false" flipV="false">
            <a:off x="762000" y="2032000"/>
            <a:ext cx="10668000" cy="4318000"/>
          </a:xfrm>
          <a:prstGeom prst="roundRect">
            <a:avLst>
              <a:gd name="adj" fmla="val 2352"/>
            </a:avLst>
          </a:prstGeom>
          <a:solidFill>
            <a:srgbClr val="F0F0F0">
              <a:alpha val="100000"/>
            </a:srgbClr>
          </a:solidFill>
          <a:ln w="25400" cmpd="sng" cap="flat">
            <a:noFill/>
            <a:prstDash val="solid"/>
            <a:round/>
          </a:ln>
        </p:spPr>
        <p:txBody>
          <a:bodyPr anchor="t" rtlCol="false" anchorCtr="false" vert="horz" wrap="square" lIns="508000" rIns="508000" tIns="381000" bIns="0"/>
          <a:lstStyle/>
          <a:p>
            <a:pPr algn="l" indent="-254000" marL="254000">
              <a:lnSpc>
                <a:spcPct val="125000"/>
              </a:lnSpc>
              <a:buClr>
                <a:srgbClr val="1F2329"/>
              </a:buClr>
              <a:buChar char="•"/>
              <a:defRP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Tóm tắt cốt lõi: </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646464"/>
                </a:solidFill>
                <a:latin typeface="Open Sans"/>
                <a:ea typeface="Open Sans"/>
                <a:cs typeface="Open Sans"/>
                <a:sym typeface="Open Sans"/>
              </a:rPr>
              <a:t>Các yếu tố S/W/O/T nổi bật nhất đã được định vị rõ ràng, tạo cơ sở logic vững chắc cho việc lựa chọn các cặp chiến lược ưu tiên.</a:t>
            </a:r>
            <a:r>
              <a:rPr lang="en-US" b="false" i="false" strike="noStrike" u="none" sz="1600">
                <a:solidFill>
                  <a:srgbClr val="1F2329"/>
                </a:solidFill>
                <a:latin typeface="Noto Sans SC"/>
                <a:ea typeface="Noto Sans SC"/>
                <a:cs typeface="Noto Sans SC"/>
                <a:sym typeface="Noto Sans SC"/>
              </a:rPr>
              <a:t/>
            </a:r>
            <a:endParaRPr lang="en-US" sz="1100"/>
          </a:p>
          <a:p>
            <a:pPr algn="l" indent="-254000" marL="254000">
              <a:lnSpc>
                <a:spcPct val="125000"/>
              </a:lnSpc>
              <a:buClr>
                <a:srgbClr val="1F2329"/>
              </a:buClr>
              <a:buChar cha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Hành động trọng tâm: </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646464"/>
                </a:solidFill>
                <a:latin typeface="Open Sans"/>
                <a:ea typeface="Open Sans"/>
                <a:cs typeface="Open Sans"/>
                <a:sym typeface="Open Sans"/>
              </a:rPr>
              <a:t>Tập trung nguồn lực vào 3-5 sáng kiến chiến lược có tác động lớn nhất trong 90 ngày tới để tạo đà thay đổi nhanh chóng.</a:t>
            </a:r>
            <a:r>
              <a:rPr lang="en-US" b="false" i="false" strike="noStrike" u="none" sz="1600">
                <a:solidFill>
                  <a:srgbClr val="1F2329"/>
                </a:solidFill>
                <a:latin typeface="Noto Sans SC"/>
                <a:ea typeface="Noto Sans SC"/>
                <a:cs typeface="Noto Sans SC"/>
                <a:sym typeface="Noto Sans SC"/>
              </a:rPr>
              <a:t/>
            </a:r>
          </a:p>
          <a:p>
            <a:pPr algn="l" indent="-254000" marL="254000">
              <a:lnSpc>
                <a:spcPct val="125000"/>
              </a:lnSpc>
              <a:buClr>
                <a:srgbClr val="1F2329"/>
              </a:buClr>
              <a:buChar cha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Rủi ro còn mở: </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646464"/>
                </a:solidFill>
                <a:latin typeface="Open Sans"/>
                <a:ea typeface="Open Sans"/>
                <a:cs typeface="Open Sans"/>
                <a:sym typeface="Open Sans"/>
              </a:rPr>
              <a:t>Lưu ý các giả định về thị trường và đối thủ cần được theo dõi sát sao. Sẵn sàng điều chỉnh kế hoạch nếu các biến số này thay đổi.</a:t>
            </a:r>
            <a:r>
              <a:rPr lang="en-US" b="false" i="false" strike="noStrike" u="none" sz="1600">
                <a:solidFill>
                  <a:srgbClr val="1F2329"/>
                </a:solidFill>
                <a:latin typeface="Noto Sans SC"/>
                <a:ea typeface="Noto Sans SC"/>
                <a:cs typeface="Noto Sans SC"/>
                <a:sym typeface="Noto Sans SC"/>
              </a:rPr>
              <a:t/>
            </a:r>
          </a:p>
          <a:p>
            <a:pPr algn="l" indent="-254000" marL="254000">
              <a:lnSpc>
                <a:spcPct val="125000"/>
              </a:lnSpc>
              <a:buClr>
                <a:srgbClr val="1F2329"/>
              </a:buClr>
              <a:buChar char="•"/>
            </a:pPr>
            <a:r>
              <a:rPr lang="en-US" b="false" i="false" strike="noStrike" u="none" sz="2000">
                <a:solidFill>
                  <a:srgbClr val="1F2329"/>
                </a:solidFill>
                <a:latin typeface="Noto Sans SC"/>
                <a:ea typeface="Noto Sans SC"/>
                <a:cs typeface="Noto Sans SC"/>
                <a:sym typeface="Noto Sans SC"/>
              </a:rPr>
              <a:t>📣 </a:t>
            </a:r>
            <a:r>
              <a:rPr lang="en-US" b="true" i="false" strike="noStrike" u="none" sz="1800">
                <a:solidFill>
                  <a:srgbClr val="16433C"/>
                </a:solidFill>
                <a:latin typeface="Poppins"/>
                <a:ea typeface="Poppins"/>
                <a:cs typeface="Poppins"/>
                <a:sym typeface="Poppins"/>
              </a:rPr>
              <a:t>Kêu gọi tham gia: </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646464"/>
                </a:solidFill>
                <a:latin typeface="Open Sans"/>
                <a:ea typeface="Open Sans"/>
                <a:cs typeface="Open Sans"/>
                <a:sym typeface="Open Sans"/>
              </a:rPr>
              <a:t>Phân công rõ ràng ai làm gì và mốc thời gian hoàn thành (Deadline). Cam kết hành động từ từng bộ phận liên quan.</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CFC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3600">
                <a:solidFill>
                  <a:srgbClr val="202020"/>
                </a:solidFill>
                <a:latin typeface="Montserrat"/>
                <a:ea typeface="Montserrat"/>
                <a:cs typeface="Montserrat"/>
                <a:sym typeface="Montserrat"/>
              </a:rPr>
              <a:t>Hỏi &amp; Đáp</a:t>
            </a:r>
            <a:endParaRPr lang="en-US" sz="1100"/>
          </a:p>
        </p:txBody>
      </p:sp>
      <p:sp>
        <p:nvSpPr>
          <p:cNvPr name="AutoShape 3" id="3"/>
          <p:cNvSpPr/>
          <p:nvPr/>
        </p:nvSpPr>
        <p:spPr>
          <a:xfrm rot="0" flipH="false" flipV="false">
            <a:off x="762000" y="1270000"/>
            <a:ext cx="10668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646464"/>
                </a:solidFill>
                <a:latin typeface="Open Sans"/>
                <a:ea typeface="Open Sans"/>
                <a:cs typeface="Open Sans"/>
                <a:sym typeface="Open Sans"/>
              </a:rPr>
              <a:t>Đây là thời gian dành cho các thảo luận mở. Hãy đặt câu hỏi để làm rõ mọi khía cạnh trước khi chúng ta triển khai.</a:t>
            </a:r>
            <a:endParaRPr lang="en-US" sz="1100"/>
          </a:p>
        </p:txBody>
      </p:sp>
      <p:sp>
        <p:nvSpPr>
          <p:cNvPr name="AutoShape 4" id="4"/>
          <p:cNvSpPr/>
          <p:nvPr/>
        </p:nvSpPr>
        <p:spPr>
          <a:xfrm rot="0" flipH="false" flipV="false">
            <a:off x="762000" y="2286000"/>
            <a:ext cx="3302000" cy="3556000"/>
          </a:xfrm>
          <a:prstGeom prst="roundRect">
            <a:avLst>
              <a:gd name="adj" fmla="val 3076"/>
            </a:avLst>
          </a:prstGeom>
          <a:solidFill>
            <a:srgbClr val="F0F0F0">
              <a:alpha val="100000"/>
            </a:srgbClr>
          </a:solidFill>
          <a:ln w="25400" cmpd="sng" cap="flat">
            <a:noFill/>
            <a:prstDash val="solid"/>
            <a:round/>
          </a:ln>
        </p:spPr>
        <p:txBody>
          <a:bodyPr anchor="ctr" rtlCol="false" anchorCtr="false" vert="horz" wrap="square" lIns="254000" rIns="254000" tIns="0" bIns="0"/>
          <a:lstStyle/>
          <a:p>
            <a:pPr algn="ctr" indent="0">
              <a:lnSpc>
                <a:spcPct val="125000"/>
              </a:lnSpc>
              <a:defRPr/>
            </a:pPr>
            <a:r>
              <a:rPr lang="en-US" b="false" i="false" strike="noStrike" u="none" sz="40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1800">
                <a:solidFill>
                  <a:srgbClr val="16433C"/>
                </a:solidFill>
                <a:latin typeface="Poppins"/>
                <a:ea typeface="Poppins"/>
                <a:cs typeface="Poppins"/>
                <a:sym typeface="Poppins"/>
              </a:rPr>
              <a:t>Phạm vi &amp; Giả định</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400">
                <a:solidFill>
                  <a:srgbClr val="646464"/>
                </a:solidFill>
                <a:latin typeface="Open Sans"/>
                <a:ea typeface="Open Sans"/>
                <a:cs typeface="Open Sans"/>
                <a:sym typeface="Open Sans"/>
              </a:rPr>
              <a:t>Dữ liệu đầu vào có đủ tin cậy? Phạm vi phân tích đã bao quát hết chưa?</a:t>
            </a:r>
          </a:p>
        </p:txBody>
      </p:sp>
      <p:sp>
        <p:nvSpPr>
          <p:cNvPr name="AutoShape 5" id="5"/>
          <p:cNvSpPr/>
          <p:nvPr/>
        </p:nvSpPr>
        <p:spPr>
          <a:xfrm rot="0" flipH="false" flipV="false">
            <a:off x="4445000" y="2286000"/>
            <a:ext cx="3302000" cy="3556000"/>
          </a:xfrm>
          <a:prstGeom prst="roundRect">
            <a:avLst>
              <a:gd name="adj" fmla="val 3076"/>
            </a:avLst>
          </a:prstGeom>
          <a:solidFill>
            <a:srgbClr val="F0F0F0">
              <a:alpha val="100000"/>
            </a:srgbClr>
          </a:solidFill>
          <a:ln w="25400" cmpd="sng" cap="flat">
            <a:noFill/>
            <a:prstDash val="solid"/>
            <a:round/>
          </a:ln>
        </p:spPr>
        <p:txBody>
          <a:bodyPr anchor="ctr" rtlCol="false" anchorCtr="false" vert="horz" wrap="square" lIns="254000" rIns="254000" tIns="0" bIns="0"/>
          <a:lstStyle/>
          <a:p>
            <a:pPr algn="ctr" indent="0">
              <a:lnSpc>
                <a:spcPct val="125000"/>
              </a:lnSpc>
              <a:defRPr/>
            </a:pPr>
            <a:r>
              <a:rPr lang="en-US" b="false" i="false" strike="noStrike" u="none" sz="40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1800">
                <a:solidFill>
                  <a:srgbClr val="16433C"/>
                </a:solidFill>
                <a:latin typeface="Poppins"/>
                <a:ea typeface="Poppins"/>
                <a:cs typeface="Poppins"/>
                <a:sym typeface="Poppins"/>
              </a:rPr>
              <a:t>Rủi ro &amp; Nguồn lực</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400">
                <a:solidFill>
                  <a:srgbClr val="646464"/>
                </a:solidFill>
                <a:latin typeface="Open Sans"/>
                <a:ea typeface="Open Sans"/>
                <a:cs typeface="Open Sans"/>
                <a:sym typeface="Open Sans"/>
              </a:rPr>
              <a:t>Chúng ta có đủ người và tiền không? Các rủi ro nào chưa được tính đến?</a:t>
            </a:r>
          </a:p>
        </p:txBody>
      </p:sp>
      <p:sp>
        <p:nvSpPr>
          <p:cNvPr name="AutoShape 6" id="6"/>
          <p:cNvSpPr/>
          <p:nvPr/>
        </p:nvSpPr>
        <p:spPr>
          <a:xfrm rot="0" flipH="false" flipV="false">
            <a:off x="8128000" y="2286000"/>
            <a:ext cx="3302000" cy="3556000"/>
          </a:xfrm>
          <a:prstGeom prst="roundRect">
            <a:avLst>
              <a:gd name="adj" fmla="val 3076"/>
            </a:avLst>
          </a:prstGeom>
          <a:solidFill>
            <a:srgbClr val="F0F0F0">
              <a:alpha val="100000"/>
            </a:srgbClr>
          </a:solidFill>
          <a:ln w="25400" cmpd="sng" cap="flat">
            <a:noFill/>
            <a:prstDash val="solid"/>
            <a:round/>
          </a:ln>
        </p:spPr>
        <p:txBody>
          <a:bodyPr anchor="ctr" rtlCol="false" anchorCtr="false" vert="horz" wrap="square" lIns="254000" rIns="254000" tIns="0" bIns="0"/>
          <a:lstStyle/>
          <a:p>
            <a:pPr algn="ctr" indent="0">
              <a:lnSpc>
                <a:spcPct val="125000"/>
              </a:lnSpc>
              <a:defRPr/>
            </a:pPr>
            <a:r>
              <a:rPr lang="en-US" b="false" i="false" strike="noStrike" u="none" sz="40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1800">
                <a:solidFill>
                  <a:srgbClr val="16433C"/>
                </a:solidFill>
                <a:latin typeface="Poppins"/>
                <a:ea typeface="Poppins"/>
                <a:cs typeface="Poppins"/>
                <a:sym typeface="Poppins"/>
              </a:rPr>
              <a:t>Ghi nhận &amp; Hành động</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400">
                <a:solidFill>
                  <a:srgbClr val="646464"/>
                </a:solidFill>
                <a:latin typeface="Open Sans"/>
                <a:ea typeface="Open Sans"/>
                <a:cs typeface="Open Sans"/>
                <a:sym typeface="Open Sans"/>
              </a:rPr>
              <a:t>Tổng hợp câu hỏi theo nhóm chủ đề. Cam kết trả lời và ghi nhận các hành động tiếp theo.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390" t="0" r="-39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540000"/>
            <a:ext cx="10160000" cy="254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FFFFF"/>
                </a:solidFill>
                <a:latin typeface="Montserrat"/>
                <a:ea typeface="Montserrat"/>
                <a:cs typeface="Montserrat"/>
                <a:sym typeface="Montserrat"/>
              </a:rPr>
              <a:t>Cảm ơn &amp; Liên hệ</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2000">
                <a:solidFill>
                  <a:srgbClr val="E6E6E6"/>
                </a:solidFill>
                <a:latin typeface="Open Sans"/>
                <a:ea typeface="Open Sans"/>
                <a:cs typeface="Open Sans"/>
                <a:sym typeface="Open Sans"/>
              </a:rPr>
              <a:t>Cảm ơn sự tham gia và đóng góp ý kiến quý báu của quý vị.</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600">
                <a:solidFill>
                  <a:srgbClr val="C8C8C8"/>
                </a:solidFill>
                <a:latin typeface="Open Sans"/>
                <a:ea typeface="Open Sans"/>
                <a:cs typeface="Open Sans"/>
                <a:sym typeface="Open Sans"/>
              </a:rPr>
              <a:t>Hãy tiếp tục trao đổi để cùng nhau tinh chỉnh và đưa SWOT vào ứng dụng thực tế thành công.</a:t>
            </a: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